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4" r:id="rId14"/>
    <p:sldId id="270" r:id="rId15"/>
    <p:sldId id="273" r:id="rId1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216" y="312"/>
      </p:cViewPr>
      <p:guideLst>
        <p:guide orient="horz" pos="1618"/>
        <p:guide pos="287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presProps" Target="presProps.xml"  /><Relationship Id="rId18" Type="http://schemas.openxmlformats.org/officeDocument/2006/relationships/viewProps" Target="viewProps.xml"  /><Relationship Id="rId19" Type="http://schemas.openxmlformats.org/officeDocument/2006/relationships/theme" Target="theme/theme1.xml"  /><Relationship Id="rId2" Type="http://schemas.openxmlformats.org/officeDocument/2006/relationships/notesMaster" Target="notesMasters/notesMaster1.xml"  /><Relationship Id="rId20" Type="http://schemas.openxmlformats.org/officeDocument/2006/relationships/tableStyles" Target="tableStyles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5282F153-3F37-0F45-9E97-73ACFA13230C}" type="datetime1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4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5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6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7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8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9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0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slide" Target="../slides/slide12.xml"  /><Relationship Id="rId2" Type="http://schemas.openxmlformats.org/officeDocument/2006/relationships/notesMaster" Target="../notesMasters/notesMaster1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3.xml"  /></Relationships>
</file>

<file path=ppt/notesSlides/_rels/notesSlide1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4.xml" 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9113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3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4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1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6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7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8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9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0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1.xml"  /><Relationship Id="rId2" Type="http://schemas.openxmlformats.org/officeDocument/2006/relationships/slideLayout" Target="../slideLayouts/slideLayout1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2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Relationship Id="rId4" Type="http://schemas.openxmlformats.org/officeDocument/2006/relationships/image" Target="../media/image2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3.xml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4.xml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5C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2DB86B"/>
          </a:solidFill>
          <a:ln w="12700">
            <a:solidFill>
              <a:srgbClr val="2DB8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46304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식단 관리 프로그램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2514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DB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발표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전자공학기초실험  |  최정락 · 강민수 · 황지섭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5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2DB86B"/>
          </a:solidFill>
          <a:ln w="12700">
            <a:solidFill>
              <a:srgbClr val="2DB8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D6EAF8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152144"/>
            <a:ext cx="457200" cy="45720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52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70432" y="1078992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소개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70432" y="1408176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중간 발표 복습 — 주제 선정, 기존 기능, 한계점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D5F5E3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94360" y="2066544"/>
            <a:ext cx="457200" cy="457200"/>
          </a:xfrm>
          <a:prstGeom prst="ellipse">
            <a:avLst/>
          </a:prstGeom>
          <a:solidFill>
            <a:srgbClr val="28B463"/>
          </a:solidFill>
          <a:ln w="12700">
            <a:solidFill>
              <a:srgbClr val="28B4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066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70432" y="1993392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개선 사항 ① 개인화 칼로리 계산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70432" y="2322576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Harris-Benedict 공식 + 활동량 계수 적용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D5F5E3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2980944"/>
            <a:ext cx="457200" cy="457200"/>
          </a:xfrm>
          <a:prstGeom prst="ellipse">
            <a:avLst/>
          </a:prstGeom>
          <a:solidFill>
            <a:srgbClr val="28B463"/>
          </a:solidFill>
          <a:ln w="12700">
            <a:solidFill>
              <a:srgbClr val="28B4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980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70432" y="2907792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개선 사항 ② Claude API 연동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70432" y="3236976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고정 패턴 → AI 실시간 맞춤 식단 추천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749040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D6EAF8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" y="3895344"/>
            <a:ext cx="457200" cy="45720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895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70432" y="3822192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완성된 프로그램 시연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70432" y="4151376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라이브 데모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5C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2DB86B"/>
          </a:solidFill>
          <a:ln w="12700">
            <a:solidFill>
              <a:srgbClr val="2DB8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소개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DB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중간 발표 복습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5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식단 관리 프로그램 소개 (중간 발표 기준)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2DB86B"/>
          </a:solidFill>
          <a:ln w="12700">
            <a:solidFill>
              <a:srgbClr val="2DB8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23360" cy="3749040"/>
          </a:xfrm>
          <a:prstGeom prst="roundRect">
            <a:avLst>
              <a:gd name="adj" fmla="val 1951"/>
            </a:avLst>
          </a:prstGeom>
          <a:solidFill>
            <a:srgbClr val="D6EAF8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4023360" cy="43891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1440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기능 ①  영양소 분석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508760"/>
            <a:ext cx="347472" cy="347472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508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14630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 정보 입력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17190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나이 / 성별 / 키 / 체중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8368" y="1856232"/>
            <a:ext cx="0" cy="347472"/>
          </a:xfrm>
          <a:prstGeom prst="line">
            <a:avLst/>
          </a:prstGeom>
          <a:noFill/>
          <a:ln w="19050">
            <a:solidFill>
              <a:srgbClr val="2E86C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276856"/>
            <a:ext cx="347472" cy="347472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2768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22311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끼니별 음식 입력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24871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아침·점심·저녁·간식, 여러 개 입력 가능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8368" y="2624328"/>
            <a:ext cx="0" cy="347472"/>
          </a:xfrm>
          <a:prstGeom prst="line">
            <a:avLst/>
          </a:prstGeom>
          <a:noFill/>
          <a:ln w="19050">
            <a:solidFill>
              <a:srgbClr val="2E86C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044952"/>
            <a:ext cx="347472" cy="347472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044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29992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영양소 자동 계산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" y="325526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탄수화물 · 단백질 · 지방 · 칼로리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8368" y="3392424"/>
            <a:ext cx="0" cy="347472"/>
          </a:xfrm>
          <a:prstGeom prst="line">
            <a:avLst/>
          </a:prstGeom>
          <a:noFill/>
          <a:ln w="19050">
            <a:solidFill>
              <a:srgbClr val="2E86C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3813048"/>
            <a:ext cx="347472" cy="347472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813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60120" y="37673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그래프로 비교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60120" y="40233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나이대별 권장량 대비 섭취량 시각화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00600" y="914400"/>
            <a:ext cx="4023360" cy="3749040"/>
          </a:xfrm>
          <a:prstGeom prst="roundRect">
            <a:avLst>
              <a:gd name="adj" fmla="val 1951"/>
            </a:avLst>
          </a:prstGeom>
          <a:solidFill>
            <a:srgbClr val="D5F5E3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00600" y="914400"/>
            <a:ext cx="4023360" cy="438912"/>
          </a:xfrm>
          <a:prstGeom prst="rect">
            <a:avLst/>
          </a:prstGeom>
          <a:solidFill>
            <a:srgbClr val="28B463"/>
          </a:solidFill>
          <a:ln w="12700">
            <a:solidFill>
              <a:srgbClr val="28B46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91440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기능 ②  식단 추천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983480" y="1508760"/>
            <a:ext cx="347472" cy="347472"/>
          </a:xfrm>
          <a:prstGeom prst="ellipse">
            <a:avLst/>
          </a:prstGeom>
          <a:solidFill>
            <a:srgbClr val="28B463"/>
          </a:solidFill>
          <a:ln w="12700">
            <a:solidFill>
              <a:srgbClr val="28B46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1508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40680" y="14630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 선택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40680" y="17190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다이어트 · 린매스업 · 클린벌크 · 더티벌크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138928" y="1856232"/>
            <a:ext cx="0" cy="347472"/>
          </a:xfrm>
          <a:prstGeom prst="line">
            <a:avLst/>
          </a:prstGeom>
          <a:noFill/>
          <a:ln w="19050">
            <a:solidFill>
              <a:srgbClr val="28B46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83480" y="2276856"/>
            <a:ext cx="347472" cy="347472"/>
          </a:xfrm>
          <a:prstGeom prst="ellipse">
            <a:avLst/>
          </a:prstGeom>
          <a:solidFill>
            <a:srgbClr val="28B463"/>
          </a:solidFill>
          <a:ln w="12700">
            <a:solidFill>
              <a:srgbClr val="28B46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83480" y="22768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40680" y="22311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체성분 입력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40680" y="24871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체지방률 · 근육량 · 알레르기 입력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138928" y="2624328"/>
            <a:ext cx="0" cy="347472"/>
          </a:xfrm>
          <a:prstGeom prst="line">
            <a:avLst/>
          </a:prstGeom>
          <a:noFill/>
          <a:ln w="19050">
            <a:solidFill>
              <a:srgbClr val="28B46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983480" y="3044952"/>
            <a:ext cx="347472" cy="347472"/>
          </a:xfrm>
          <a:prstGeom prst="ellipse">
            <a:avLst/>
          </a:prstGeom>
          <a:solidFill>
            <a:srgbClr val="28B463"/>
          </a:solidFill>
          <a:ln w="12700">
            <a:solidFill>
              <a:srgbClr val="28B46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83480" y="3044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440680" y="29992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칼로리 계산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440680" y="325526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Harris-Benedict 공식 기반 개인 칼로리 산출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138928" y="3392424"/>
            <a:ext cx="0" cy="347472"/>
          </a:xfrm>
          <a:prstGeom prst="line">
            <a:avLst/>
          </a:prstGeom>
          <a:noFill/>
          <a:ln w="19050">
            <a:solidFill>
              <a:srgbClr val="28B46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983480" y="3813048"/>
            <a:ext cx="347472" cy="347472"/>
          </a:xfrm>
          <a:prstGeom prst="ellipse">
            <a:avLst/>
          </a:prstGeom>
          <a:solidFill>
            <a:srgbClr val="28B463"/>
          </a:solidFill>
          <a:ln w="12700">
            <a:solidFill>
              <a:srgbClr val="28B46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83480" y="3813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440680" y="37673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맞춤 식단 추천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440680" y="40233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아침 ~ 간식 하루치 탄단지 · 칼로리 포함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6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5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중간 발표 당시 한계점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2DB86B"/>
          </a:solidFill>
          <a:ln w="12700">
            <a:solidFill>
              <a:srgbClr val="2DB8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8321040" cy="713232"/>
          </a:xfrm>
          <a:prstGeom prst="roundRect">
            <a:avLst>
              <a:gd name="adj" fmla="val 10256"/>
            </a:avLst>
          </a:prstGeom>
          <a:solidFill>
            <a:srgbClr val="FADBD8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088136"/>
            <a:ext cx="411480" cy="4114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0881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✕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15568" y="1033272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개인화 칼로리 미적용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15568" y="132588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기초대사량·활동량 계수 기반 계산 없이 나이대별 단순 고정값 사용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1819656"/>
            <a:ext cx="8321040" cy="713232"/>
          </a:xfrm>
          <a:prstGeom prst="roundRect">
            <a:avLst>
              <a:gd name="adj" fmla="val 10256"/>
            </a:avLst>
          </a:prstGeom>
          <a:solidFill>
            <a:srgbClr val="FADBD8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1947672"/>
            <a:ext cx="411480" cy="4114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9476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✕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15568" y="1892808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API 미연동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15568" y="2185416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식단 추천이 고정 패턴으로만 출력 — AI 기능 미활용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2679192"/>
            <a:ext cx="8321040" cy="713232"/>
          </a:xfrm>
          <a:prstGeom prst="roundRect">
            <a:avLst>
              <a:gd name="adj" fmla="val 10256"/>
            </a:avLst>
          </a:prstGeom>
          <a:solidFill>
            <a:srgbClr val="FADBD8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6928" y="2807208"/>
            <a:ext cx="411480" cy="4114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8072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✕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15568" y="275234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음식 DB 부족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15568" y="3044952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내장 DB 100종 제한 → 브랜드 음식 등 검색 불가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6928" y="36667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✕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11480" y="443484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이번 최종 발표에서 ①·② 두 가지를 완성하였습니다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5C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2DB86B"/>
          </a:solidFill>
          <a:ln w="12700">
            <a:solidFill>
              <a:srgbClr val="2DB8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개선 사항 ①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B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개인화 칼로리 계산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3154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D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Harris-Benedict 공식 + 활동량 계수 적용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5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개선 전 vs 개선 후 — 칼로리 계산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2DB86B"/>
          </a:solidFill>
          <a:ln w="12700">
            <a:solidFill>
              <a:srgbClr val="2DB8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3200400"/>
        </p:xfrm>
        <a:graphic>
          <a:graphicData uri="http://schemas.openxmlformats.org/drawingml/2006/table">
            <a:tbl>
              <a:tblPr/>
              <a:tblGrid>
                <a:gridCol w="1828800"/>
                <a:gridCol w="3291840"/>
                <a:gridCol w="329184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구분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중간 발표 (이전)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최종 발표 (개선 후)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B46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칼로리 기준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나이대별 단순 권장량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개인 신체 데이터 기반 정밀 계산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활동량 반영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</a:rPr>
                        <a:t>❌ 미반영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8B463"/>
                          </a:solidFill>
                        </a:rPr>
                        <a:t>✅ 활동량 계수 (1.2~1.9) 적용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사용 공식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없음 (고정값)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Harris-Benedict 공식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목표 반영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</a:rPr>
                        <a:t>❌ 미반영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8B463"/>
                          </a:solidFill>
                        </a:rPr>
                        <a:t>✅ 목표별 칼로리 자동 조정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2519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같은 20대라도 운동량·목표에 따라 완전히 다른 맞춤 칼로리가 계산됩니다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5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Harris-Benedict 공식 — 개인화 칼로리 산출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2DB86B"/>
          </a:solidFill>
          <a:ln w="12700">
            <a:solidFill>
              <a:srgbClr val="2DB8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1417320"/>
          </a:xfrm>
          <a:prstGeom prst="roundRect">
            <a:avLst>
              <a:gd name="adj" fmla="val 5161"/>
            </a:avLst>
          </a:prstGeom>
          <a:solidFill>
            <a:srgbClr val="D6EAF8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98755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Harris-Benedict 공식이란?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33502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성별·나이·키·체중을 기반으로 기초대사량(BMR)을 계산하는 공식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59105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남성 BMR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88.4 + (13.4 × 체중) + (4.8 × 키) − (5.7 × 나이)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86537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B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여성 BMR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447.6 + (9.2 × 체중) + (3.1 × 키) − (4.3 × 나이)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4871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활동량 계수 → TDEE (총 권장 칼로리) 산출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834640"/>
          <a:ext cx="8412480" cy="1874520"/>
        </p:xfrm>
        <a:graphic>
          <a:graphicData uri="http://schemas.openxmlformats.org/drawingml/2006/table">
            <a:tbl>
              <a:tblPr/>
              <a:tblGrid>
                <a:gridCol w="6400800"/>
                <a:gridCol w="201168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활동 수준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계수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C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거의 운동 안 함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× 1.2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가벼운 운동 (주 1~3회)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× 1.375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보통 운동 (주 3~5회)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× 1.55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강도 높은 운동 (주 6~7회)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× 1.725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매우 고강도 (운동선수 수준)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× 1.9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5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개인화 칼로리 계산 — 개선 결과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2DB86B"/>
          </a:solidFill>
          <a:ln w="12700">
            <a:solidFill>
              <a:srgbClr val="2DB8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114800" cy="3749040"/>
          </a:xfrm>
          <a:prstGeom prst="roundRect">
            <a:avLst>
              <a:gd name="adj" fmla="val 1951"/>
            </a:avLst>
          </a:prstGeom>
          <a:solidFill>
            <a:srgbClr val="D5F5E3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058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개선 포인트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B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사용자가 활동량 선택 → TDEE 자동 계산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231136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B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목표(다이어트 −500kcal, 벌크 +300kcal 등)에 따라 최종 권장 칼로리 산출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99923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B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그래프에서 '내 기준 권장 칼로리' vs '실제 섭취 칼로리' 나란히 비교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76732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B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나이대 고정값이 아닌 개인 신체 데이터 기반의 정밀 수치 제공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914400"/>
            <a:ext cx="4114800" cy="3749040"/>
          </a:xfrm>
          <a:prstGeom prst="roundRect">
            <a:avLst>
              <a:gd name="adj" fmla="val 1951"/>
            </a:avLst>
          </a:prstGeom>
          <a:solidFill>
            <a:srgbClr val="D6EAF8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10058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계산 예시 (25세 남성, 175cm, 70kg)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41732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ADBD8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14813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이전 — 단순 나이대 권장량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17830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20대 남성 권장 칼로리 : 2,600 kcal (고정)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20574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활동량·목표 미반영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743200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D5F5E3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92040" y="28072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B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개선 후 — 개인화 계산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31089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BMR = 1,800 kcal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33649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TDEE = 1,800 × 1.55 = 2,790 kcal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362102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B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다이어트 목표 → 2,290 kcal 권장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38862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(−500kcal 적용)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5C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2DB86B"/>
          </a:solidFill>
          <a:ln w="12700">
            <a:solidFill>
              <a:srgbClr val="2DB8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개선 사항 ②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B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API 연동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3154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D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고정 패턴 → AI 실시간 맞춤 식단 추천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5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개선 전 vs 개선 후 — Claude API 연동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2DB86B"/>
          </a:solidFill>
          <a:ln w="12700">
            <a:solidFill>
              <a:srgbClr val="2DB8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8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365760" y="914400"/>
          <a:ext cx="8412480" cy="2234565"/>
        </p:xfrm>
        <a:graphic>
          <a:graphicData uri="http://schemas.openxmlformats.org/drawingml/2006/table">
            <a:tbl>
              <a:tblGrid>
                <a:gridCol w="2286000"/>
                <a:gridCol w="3063240"/>
                <a:gridCol w="3063240"/>
              </a:tblGrid>
              <a:tr h="566928">
                <a:tc>
                  <a:txBody>
                    <a:bodyPr vert="horz" lIns="91440" tIns="45720" rIns="91440" bIns="45720" anchor="t" anchorCtr="0"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</a:rPr>
                        <a:t>구분</a:t>
                      </a:r>
                      <a:endParaRPr lang="en-US" sz="1300"/>
                    </a:p>
                  </a:txBody>
                  <a:tcPr marL="91440" marR="9144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</a:rPr>
                        <a:t>중간 발표 (이전)</a:t>
                      </a:r>
                      <a:endParaRPr lang="en-US" sz="1300"/>
                    </a:p>
                  </a:txBody>
                  <a:tcPr marL="91440" marR="9144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</a:rPr>
                        <a:t>최종 발표 (개선 후)</a:t>
                      </a:r>
                      <a:endParaRPr lang="en-US" sz="1300"/>
                    </a:p>
                  </a:txBody>
                  <a:tcPr marL="91440" marR="9144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28b463"/>
                    </a:solidFill>
                  </a:tcPr>
                </a:tc>
              </a:tr>
              <a:tr h="533781">
                <a:tc>
                  <a:txBody>
                    <a:bodyPr vert="horz" lIns="91440" tIns="45720" rIns="91440" bIns="45720" anchor="t" anchorCtr="0"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200" b="1">
                          <a:solidFill>
                            <a:srgbClr val="1a1a1a"/>
                          </a:solidFill>
                        </a:rPr>
                        <a:t>식단 추천 방식</a:t>
                      </a:r>
                      <a:endParaRPr lang="en-US" sz="1200"/>
                    </a:p>
                  </a:txBody>
                  <a:tcPr marL="91440" marR="9144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1a1a1a"/>
                          </a:solidFill>
                        </a:rPr>
                        <a:t>고정 패턴 텍스트 출력</a:t>
                      </a:r>
                      <a:endParaRPr lang="en-US" sz="1200"/>
                    </a:p>
                  </a:txBody>
                  <a:tcPr marL="91440" marR="9144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1a1a1a"/>
                          </a:solidFill>
                        </a:rPr>
                        <a:t>Claude AI가 실시간 생성</a:t>
                      </a:r>
                      <a:endParaRPr lang="en-US" sz="1200"/>
                    </a:p>
                  </a:txBody>
                  <a:tcPr marL="91440" marR="9144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vert="horz" lIns="91440" tIns="45720" rIns="91440" bIns="45720" anchor="t" anchorCtr="0"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200" b="1">
                          <a:solidFill>
                            <a:srgbClr val="1a1a1a"/>
                          </a:solidFill>
                        </a:rPr>
                        <a:t>추천 다양성</a:t>
                      </a:r>
                      <a:endParaRPr lang="en-US" sz="1200"/>
                    </a:p>
                  </a:txBody>
                  <a:tcPr marL="91440" marR="9144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1a1a1a"/>
                          </a:solidFill>
                        </a:rPr>
                        <a:t>매번 동일한 결과</a:t>
                      </a:r>
                      <a:endParaRPr lang="en-US" sz="1200"/>
                    </a:p>
                  </a:txBody>
                  <a:tcPr marL="91440" marR="9144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1a1a1a"/>
                          </a:solidFill>
                        </a:rPr>
                        <a:t>매번 다른 맞춤형 추천</a:t>
                      </a:r>
                      <a:endParaRPr lang="en-US" sz="1200"/>
                    </a:p>
                  </a:txBody>
                  <a:tcPr marL="91440" marR="9144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vert="horz" lIns="91440" tIns="45720" rIns="91440" bIns="45720" anchor="t" anchorCtr="0"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200" b="1">
                          <a:solidFill>
                            <a:srgbClr val="1a1a1a"/>
                          </a:solidFill>
                        </a:rPr>
                        <a:t>설명 품질</a:t>
                      </a:r>
                      <a:endParaRPr lang="en-US" sz="1200"/>
                    </a:p>
                  </a:txBody>
                  <a:tcPr marL="91440" marR="9144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1a1a1a"/>
                          </a:solidFill>
                        </a:rPr>
                        <a:t>단순 음식 나열</a:t>
                      </a:r>
                      <a:endParaRPr lang="en-US" sz="1200"/>
                    </a:p>
                  </a:txBody>
                  <a:tcPr marL="91440" marR="9144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ko-KR" altLang="en-US" sz="1200">
                          <a:solidFill>
                            <a:srgbClr val="1a1a1a"/>
                          </a:solidFill>
                        </a:rPr>
                        <a:t>식단 추가팁</a:t>
                      </a:r>
                      <a:r>
                        <a:rPr lang="en-US" altLang="ko-KR" sz="1200">
                          <a:solidFill>
                            <a:srgbClr val="1a1a1a"/>
                          </a:solidFill>
                        </a:rPr>
                        <a:t>(</a:t>
                      </a:r>
                      <a:r>
                        <a:rPr lang="ko-KR" altLang="en-US" sz="1200">
                          <a:solidFill>
                            <a:srgbClr val="1a1a1a"/>
                          </a:solidFill>
                        </a:rPr>
                        <a:t>주간 요약</a:t>
                      </a:r>
                      <a:r>
                        <a:rPr lang="en-US" altLang="ko-KR" sz="1200">
                          <a:solidFill>
                            <a:srgbClr val="1a1a1a"/>
                          </a:solidFill>
                        </a:rPr>
                        <a:t>,</a:t>
                      </a:r>
                      <a:r>
                        <a:rPr lang="ko-KR" altLang="en-US" sz="1200">
                          <a:solidFill>
                            <a:srgbClr val="1a1a1a"/>
                          </a:solidFill>
                        </a:rPr>
                        <a:t> 목적별 팁</a:t>
                      </a:r>
                      <a:r>
                        <a:rPr lang="en-US" altLang="ko-KR" sz="1200">
                          <a:solidFill>
                            <a:srgbClr val="1a1a1a"/>
                          </a:solidFill>
                        </a:rPr>
                        <a:t>)</a:t>
                      </a:r>
                      <a:endParaRPr lang="en-US" altLang="ko-KR" sz="1200">
                        <a:solidFill>
                          <a:srgbClr val="1a1a1a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2519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고정 패턴에서 벗어나, 진짜 AI가 상황에 맞게 매번 새로운 식단을 생성합니다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2db86b"/>
          </a:solidFill>
          <a:ln w="12700">
            <a:solidFill>
              <a:srgbClr val="2db8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1f5c7a"/>
                </a:solidFill>
                <a:latin typeface="Arial"/>
                <a:ea typeface="Arial"/>
                <a:cs typeface="Arial"/>
              </a:rPr>
              <a:t>식품의약품안전처 공공 API 연동 방식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3200400" cy="3931920"/>
          </a:xfrm>
          <a:prstGeom prst="roundRect">
            <a:avLst>
              <a:gd name="adj" fmla="val 2286"/>
            </a:avLst>
          </a:prstGeom>
          <a:solidFill>
            <a:srgbClr val="d5f5e3"/>
          </a:solidFill>
          <a:ln w="6350">
            <a:solidFill>
              <a:srgbClr val="cccccc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144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28b463"/>
                </a:solidFill>
                <a:latin typeface="Arial"/>
                <a:ea typeface="Arial"/>
                <a:cs typeface="Arial"/>
              </a:rPr>
              <a:t>연동 방식</a:t>
            </a:r>
            <a:endParaRPr lang="en-US" sz="1300"/>
          </a:p>
        </p:txBody>
      </p:sp>
      <p:sp>
        <p:nvSpPr>
          <p:cNvPr id="6" name="Shape 4"/>
          <p:cNvSpPr/>
          <p:nvPr/>
        </p:nvSpPr>
        <p:spPr>
          <a:xfrm>
            <a:off x="502920" y="1362456"/>
            <a:ext cx="347472" cy="347472"/>
          </a:xfrm>
          <a:prstGeom prst="ellipse">
            <a:avLst/>
          </a:prstGeom>
          <a:solidFill>
            <a:srgbClr val="28b463"/>
          </a:solidFill>
          <a:ln w="12700">
            <a:solidFill>
              <a:srgbClr val="28b4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624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</a:rPr>
              <a:t>1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960120" y="13258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API 인증키 발급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960120" y="158191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555555"/>
                </a:solidFill>
                <a:latin typeface="Arial"/>
                <a:ea typeface="Arial"/>
                <a:cs typeface="Arial"/>
              </a:rPr>
              <a:t>식품의약품안전처 공공데이터포털에서 인증키 신청·발급</a:t>
            </a:r>
            <a:endParaRPr lang="en-US" sz="950"/>
          </a:p>
        </p:txBody>
      </p:sp>
      <p:sp>
        <p:nvSpPr>
          <p:cNvPr id="10" name="Shape 8"/>
          <p:cNvSpPr/>
          <p:nvPr/>
        </p:nvSpPr>
        <p:spPr>
          <a:xfrm>
            <a:off x="658368" y="1709928"/>
            <a:ext cx="0" cy="347472"/>
          </a:xfrm>
          <a:prstGeom prst="line">
            <a:avLst/>
          </a:prstGeom>
          <a:noFill/>
          <a:ln w="19050">
            <a:solidFill>
              <a:srgbClr val="28b46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112264"/>
            <a:ext cx="347472" cy="347472"/>
          </a:xfrm>
          <a:prstGeom prst="ellipse">
            <a:avLst/>
          </a:prstGeom>
          <a:solidFill>
            <a:srgbClr val="28b463"/>
          </a:solidFill>
          <a:ln w="12700">
            <a:solidFill>
              <a:srgbClr val="28b4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1122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</a:rPr>
              <a:t>2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960120" y="207568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음식 검색 요청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960120" y="233172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555555"/>
                </a:solidFill>
                <a:latin typeface="Arial"/>
                <a:ea typeface="Arial"/>
                <a:cs typeface="Arial"/>
              </a:rPr>
              <a:t>음식명 입력 시 REST API로 영양성분 데이터 실시간 조회</a:t>
            </a:r>
            <a:endParaRPr lang="en-US" sz="950"/>
          </a:p>
        </p:txBody>
      </p:sp>
      <p:sp>
        <p:nvSpPr>
          <p:cNvPr id="15" name="Shape 13"/>
          <p:cNvSpPr/>
          <p:nvPr/>
        </p:nvSpPr>
        <p:spPr>
          <a:xfrm>
            <a:off x="658368" y="2459736"/>
            <a:ext cx="0" cy="347472"/>
          </a:xfrm>
          <a:prstGeom prst="line">
            <a:avLst/>
          </a:prstGeom>
          <a:noFill/>
          <a:ln w="19050">
            <a:solidFill>
              <a:srgbClr val="28b46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2862072"/>
            <a:ext cx="347472" cy="347472"/>
          </a:xfrm>
          <a:prstGeom prst="ellipse">
            <a:avLst/>
          </a:prstGeom>
          <a:solidFill>
            <a:srgbClr val="28b463"/>
          </a:solidFill>
          <a:ln w="12700">
            <a:solidFill>
              <a:srgbClr val="28b4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862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</a:rPr>
              <a:t>3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960120" y="282549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영양소 데이터 수신</a:t>
            </a:r>
            <a:endParaRPr lang="en-US" sz="1200"/>
          </a:p>
        </p:txBody>
      </p:sp>
      <p:sp>
        <p:nvSpPr>
          <p:cNvPr id="19" name="Text 17"/>
          <p:cNvSpPr/>
          <p:nvPr/>
        </p:nvSpPr>
        <p:spPr>
          <a:xfrm>
            <a:off x="960120" y="308152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555555"/>
                </a:solidFill>
                <a:latin typeface="Arial"/>
                <a:ea typeface="Arial"/>
                <a:cs typeface="Arial"/>
              </a:rPr>
              <a:t>칼로리·탄수화물·단백질·지방 등 JSON 포맷으로 수신</a:t>
            </a:r>
            <a:endParaRPr lang="en-US" sz="950"/>
          </a:p>
        </p:txBody>
      </p:sp>
      <p:sp>
        <p:nvSpPr>
          <p:cNvPr id="20" name="Shape 18"/>
          <p:cNvSpPr/>
          <p:nvPr/>
        </p:nvSpPr>
        <p:spPr>
          <a:xfrm>
            <a:off x="658368" y="3209544"/>
            <a:ext cx="0" cy="347472"/>
          </a:xfrm>
          <a:prstGeom prst="line">
            <a:avLst/>
          </a:prstGeom>
          <a:noFill/>
          <a:ln w="19050">
            <a:solidFill>
              <a:srgbClr val="28b46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611880"/>
            <a:ext cx="347472" cy="347472"/>
          </a:xfrm>
          <a:prstGeom prst="ellipse">
            <a:avLst/>
          </a:prstGeom>
          <a:solidFill>
            <a:srgbClr val="28b463"/>
          </a:solidFill>
          <a:ln w="12700">
            <a:solidFill>
              <a:srgbClr val="28b46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611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</a:rPr>
              <a:t>4</a:t>
            </a:r>
            <a:endParaRPr lang="en-US" sz="1100"/>
          </a:p>
        </p:txBody>
      </p:sp>
      <p:sp>
        <p:nvSpPr>
          <p:cNvPr id="23" name="Text 21"/>
          <p:cNvSpPr/>
          <p:nvPr/>
        </p:nvSpPr>
        <p:spPr>
          <a:xfrm>
            <a:off x="960120" y="357530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화면에 표시</a:t>
            </a:r>
            <a:endParaRPr lang="en-US" sz="1200"/>
          </a:p>
        </p:txBody>
      </p:sp>
      <p:sp>
        <p:nvSpPr>
          <p:cNvPr id="24" name="Text 22"/>
          <p:cNvSpPr/>
          <p:nvPr/>
        </p:nvSpPr>
        <p:spPr>
          <a:xfrm>
            <a:off x="960120" y="383133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555555"/>
                </a:solidFill>
                <a:latin typeface="Arial"/>
                <a:ea typeface="Arial"/>
                <a:cs typeface="Arial"/>
              </a:rPr>
              <a:t>받아온 데이터를 그래프·수치로 앱에 바로 출력</a:t>
            </a:r>
            <a:endParaRPr lang="en-US" sz="950"/>
          </a:p>
        </p:txBody>
      </p:sp>
      <p:sp>
        <p:nvSpPr>
          <p:cNvPr id="25" name="Shape 23"/>
          <p:cNvSpPr/>
          <p:nvPr/>
        </p:nvSpPr>
        <p:spPr>
          <a:xfrm>
            <a:off x="3657600" y="822960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 w="10160">
            <a:solidFill>
              <a:srgbClr val="cccccc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794760" y="8869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2e86c1"/>
                </a:solidFill>
                <a:latin typeface="Arial"/>
                <a:ea typeface="Arial"/>
                <a:cs typeface="Arial"/>
              </a:rPr>
              <a:t>식품의약품안전처 식품영양성분 DB</a:t>
            </a:r>
            <a:endParaRPr lang="en-US" sz="1100"/>
          </a:p>
        </p:txBody>
      </p:sp>
      <p:pic>
        <p:nvPicPr>
          <p:cNvPr id="27" name="Image 0" descr="/mnt/user-data/uploads/1781424540605_image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749040" y="1188720"/>
            <a:ext cx="4983480" cy="1325880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3657600" y="278892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f8f9fa"/>
          </a:solidFill>
          <a:ln w="10160">
            <a:solidFill>
              <a:srgbClr val="cccccc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3794760" y="28529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2e86c1"/>
                </a:solidFill>
                <a:latin typeface="Arial"/>
                <a:ea typeface="Arial"/>
                <a:cs typeface="Arial"/>
              </a:rPr>
              <a:t>OpenAPI 정보</a:t>
            </a:r>
            <a:endParaRPr lang="en-US" sz="1100"/>
          </a:p>
        </p:txBody>
      </p:sp>
      <p:pic>
        <p:nvPicPr>
          <p:cNvPr id="30" name="Image 1" descr="/mnt/user-data/uploads/1781424562014_image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3749040" y="3154680"/>
            <a:ext cx="4983480" cy="1508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7126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5C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2DB86B"/>
          </a:solidFill>
          <a:ln w="12700">
            <a:solidFill>
              <a:srgbClr val="2DB8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완성된 프로그램 시연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2788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B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F5C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2DB86B"/>
          </a:solidFill>
          <a:ln w="12700">
            <a:solidFill>
              <a:srgbClr val="2DB8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5544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&amp; A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B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전자공학기초실험  |  최정락 · 강민수 · 황지섭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PptxGenJS</ep:Company>
  <ep:Words>503</ep:Words>
  <ep:PresentationFormat>On-screen Show (16:9)</ep:PresentationFormat>
  <ep:Paragraphs>120</ep:Paragraphs>
  <ep:Slides>14</ep:Slides>
  <ep:Notes>14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ep:HeadingPairs>
  <ep:TitlesOfParts>
    <vt:vector size="15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2026-06-14T06:48:03.000</dcterms:created>
  <dc:creator>PptxGenJS</dc:creator>
  <cp:lastModifiedBy>hjs56</cp:lastModifiedBy>
  <dcterms:modified xsi:type="dcterms:W3CDTF">2026-06-14T08:17:19.832</dcterms:modified>
  <cp:revision>6</cp:revision>
  <dc:subject>PptxGenJS Presentation</dc:subject>
  <dc:title>식단 관리 프로그램 최종 발표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